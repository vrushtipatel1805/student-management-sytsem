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271" r:id="rId5"/>
    <p:sldId id="259" r:id="rId6"/>
    <p:sldId id="260" r:id="rId7"/>
    <p:sldId id="273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ksh Rathod" userId="ab356da85fe3448f" providerId="LiveId" clId="{964D27B6-C37F-453F-8916-72B579AF81E2}"/>
    <pc:docChg chg="modSld">
      <pc:chgData name="Daksh Rathod" userId="ab356da85fe3448f" providerId="LiveId" clId="{964D27B6-C37F-453F-8916-72B579AF81E2}" dt="2025-02-22T11:57:12.125" v="2" actId="403"/>
      <pc:docMkLst>
        <pc:docMk/>
      </pc:docMkLst>
      <pc:sldChg chg="modSp mod">
        <pc:chgData name="Daksh Rathod" userId="ab356da85fe3448f" providerId="LiveId" clId="{964D27B6-C37F-453F-8916-72B579AF81E2}" dt="2025-02-22T06:43:39.088" v="1" actId="242"/>
        <pc:sldMkLst>
          <pc:docMk/>
          <pc:sldMk cId="2896347582" sldId="259"/>
        </pc:sldMkLst>
        <pc:spChg chg="mod">
          <ac:chgData name="Daksh Rathod" userId="ab356da85fe3448f" providerId="LiveId" clId="{964D27B6-C37F-453F-8916-72B579AF81E2}" dt="2025-02-22T06:43:39.088" v="1" actId="242"/>
          <ac:spMkLst>
            <pc:docMk/>
            <pc:sldMk cId="2896347582" sldId="259"/>
            <ac:spMk id="3" creationId="{ACB48094-9DCF-D6ED-28BC-C09C48C3C8CC}"/>
          </ac:spMkLst>
        </pc:spChg>
      </pc:sldChg>
      <pc:sldChg chg="modSp mod">
        <pc:chgData name="Daksh Rathod" userId="ab356da85fe3448f" providerId="LiveId" clId="{964D27B6-C37F-453F-8916-72B579AF81E2}" dt="2025-02-22T11:57:12.125" v="2" actId="403"/>
        <pc:sldMkLst>
          <pc:docMk/>
          <pc:sldMk cId="2643424063" sldId="261"/>
        </pc:sldMkLst>
        <pc:spChg chg="mod">
          <ac:chgData name="Daksh Rathod" userId="ab356da85fe3448f" providerId="LiveId" clId="{964D27B6-C37F-453F-8916-72B579AF81E2}" dt="2025-02-22T11:57:12.125" v="2" actId="403"/>
          <ac:spMkLst>
            <pc:docMk/>
            <pc:sldMk cId="2643424063" sldId="261"/>
            <ac:spMk id="3" creationId="{0A9EC532-C57B-67F8-35F3-9CC06DA66BE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68754-F5DD-46AF-8EE2-DBFFEE1FA3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DC6626-DBE4-45F3-93AC-F8B4B7B4C29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baseline="0" dirty="0"/>
            <a:t>Purpose: To manage student details, attendance, and generate reports.</a:t>
          </a:r>
          <a:endParaRPr lang="en-US" sz="2000" dirty="0"/>
        </a:p>
      </dgm:t>
    </dgm:pt>
    <dgm:pt modelId="{96D74E71-01B9-4CF9-B7FE-EFCC5EAFF987}" type="parTrans" cxnId="{B54BAB00-567B-4B4E-AE85-FD0423CC3E0D}">
      <dgm:prSet/>
      <dgm:spPr/>
      <dgm:t>
        <a:bodyPr/>
        <a:lstStyle/>
        <a:p>
          <a:endParaRPr lang="en-US" sz="2000"/>
        </a:p>
      </dgm:t>
    </dgm:pt>
    <dgm:pt modelId="{78268E9B-5855-4E17-BF13-3AF06A5714E8}" type="sibTrans" cxnId="{B54BAB00-567B-4B4E-AE85-FD0423CC3E0D}">
      <dgm:prSet/>
      <dgm:spPr/>
      <dgm:t>
        <a:bodyPr/>
        <a:lstStyle/>
        <a:p>
          <a:endParaRPr lang="en-US" sz="2000"/>
        </a:p>
      </dgm:t>
    </dgm:pt>
    <dgm:pt modelId="{8EE9FDF2-6791-4904-8FCC-F03E08241A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baseline="0"/>
            <a:t>Key features: Add, remove, update, search, sort, filter, and generate attendance reports.</a:t>
          </a:r>
          <a:endParaRPr lang="en-US" sz="2000"/>
        </a:p>
      </dgm:t>
    </dgm:pt>
    <dgm:pt modelId="{B4020228-18C6-4E94-91D4-A9C9DFD1932C}" type="parTrans" cxnId="{7BBC8981-B419-47BF-807A-3FDDEC3FCE26}">
      <dgm:prSet/>
      <dgm:spPr/>
      <dgm:t>
        <a:bodyPr/>
        <a:lstStyle/>
        <a:p>
          <a:endParaRPr lang="en-US" sz="2000"/>
        </a:p>
      </dgm:t>
    </dgm:pt>
    <dgm:pt modelId="{3AFAE6FB-3330-4B7F-AA8C-365209F2BAF1}" type="sibTrans" cxnId="{7BBC8981-B419-47BF-807A-3FDDEC3FCE26}">
      <dgm:prSet/>
      <dgm:spPr/>
      <dgm:t>
        <a:bodyPr/>
        <a:lstStyle/>
        <a:p>
          <a:endParaRPr lang="en-US" sz="2000"/>
        </a:p>
      </dgm:t>
    </dgm:pt>
    <dgm:pt modelId="{17F503D5-7B65-4A3D-B85C-766946317E00}" type="pres">
      <dgm:prSet presAssocID="{0C068754-F5DD-46AF-8EE2-DBFFEE1FA38F}" presName="root" presStyleCnt="0">
        <dgm:presLayoutVars>
          <dgm:dir/>
          <dgm:resizeHandles val="exact"/>
        </dgm:presLayoutVars>
      </dgm:prSet>
      <dgm:spPr/>
    </dgm:pt>
    <dgm:pt modelId="{5E40A988-4B44-4D44-BB9E-EB5C927737F0}" type="pres">
      <dgm:prSet presAssocID="{4BDC6626-DBE4-45F3-93AC-F8B4B7B4C29A}" presName="compNode" presStyleCnt="0"/>
      <dgm:spPr/>
    </dgm:pt>
    <dgm:pt modelId="{DD3B31F9-93EE-4A61-B5C0-16B9166BB838}" type="pres">
      <dgm:prSet presAssocID="{4BDC6626-DBE4-45F3-93AC-F8B4B7B4C2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4F17622-ED6E-41D8-91D0-C7B2E3C20780}" type="pres">
      <dgm:prSet presAssocID="{4BDC6626-DBE4-45F3-93AC-F8B4B7B4C29A}" presName="spaceRect" presStyleCnt="0"/>
      <dgm:spPr/>
    </dgm:pt>
    <dgm:pt modelId="{835B914C-C0D5-47B8-9EBB-A18A8D3BC3AE}" type="pres">
      <dgm:prSet presAssocID="{4BDC6626-DBE4-45F3-93AC-F8B4B7B4C29A}" presName="textRect" presStyleLbl="revTx" presStyleIdx="0" presStyleCnt="2">
        <dgm:presLayoutVars>
          <dgm:chMax val="1"/>
          <dgm:chPref val="1"/>
        </dgm:presLayoutVars>
      </dgm:prSet>
      <dgm:spPr/>
    </dgm:pt>
    <dgm:pt modelId="{0E7522B9-E896-4A40-A7D6-DE39072159CC}" type="pres">
      <dgm:prSet presAssocID="{78268E9B-5855-4E17-BF13-3AF06A5714E8}" presName="sibTrans" presStyleCnt="0"/>
      <dgm:spPr/>
    </dgm:pt>
    <dgm:pt modelId="{68C27A85-AABD-459D-9AAB-70578C614B4E}" type="pres">
      <dgm:prSet presAssocID="{8EE9FDF2-6791-4904-8FCC-F03E08241A01}" presName="compNode" presStyleCnt="0"/>
      <dgm:spPr/>
    </dgm:pt>
    <dgm:pt modelId="{DCC5C6E9-6228-48BD-B482-E89918A223C3}" type="pres">
      <dgm:prSet presAssocID="{8EE9FDF2-6791-4904-8FCC-F03E08241A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7F5B715-186A-4028-9DDF-A4382D93B8BB}" type="pres">
      <dgm:prSet presAssocID="{8EE9FDF2-6791-4904-8FCC-F03E08241A01}" presName="spaceRect" presStyleCnt="0"/>
      <dgm:spPr/>
    </dgm:pt>
    <dgm:pt modelId="{7031B80E-8A2C-4513-B165-AAD7483A5493}" type="pres">
      <dgm:prSet presAssocID="{8EE9FDF2-6791-4904-8FCC-F03E08241A0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54BAB00-567B-4B4E-AE85-FD0423CC3E0D}" srcId="{0C068754-F5DD-46AF-8EE2-DBFFEE1FA38F}" destId="{4BDC6626-DBE4-45F3-93AC-F8B4B7B4C29A}" srcOrd="0" destOrd="0" parTransId="{96D74E71-01B9-4CF9-B7FE-EFCC5EAFF987}" sibTransId="{78268E9B-5855-4E17-BF13-3AF06A5714E8}"/>
    <dgm:cxn modelId="{ED3A0619-3126-4AF2-B93C-E9199FBD74DE}" type="presOf" srcId="{8EE9FDF2-6791-4904-8FCC-F03E08241A01}" destId="{7031B80E-8A2C-4513-B165-AAD7483A5493}" srcOrd="0" destOrd="0" presId="urn:microsoft.com/office/officeart/2018/2/layout/IconLabelList"/>
    <dgm:cxn modelId="{B19A065C-C92C-4224-9575-115EBF696E93}" type="presOf" srcId="{0C068754-F5DD-46AF-8EE2-DBFFEE1FA38F}" destId="{17F503D5-7B65-4A3D-B85C-766946317E00}" srcOrd="0" destOrd="0" presId="urn:microsoft.com/office/officeart/2018/2/layout/IconLabelList"/>
    <dgm:cxn modelId="{05EEBC77-C85F-447C-8BFA-A38C8B4CB4C6}" type="presOf" srcId="{4BDC6626-DBE4-45F3-93AC-F8B4B7B4C29A}" destId="{835B914C-C0D5-47B8-9EBB-A18A8D3BC3AE}" srcOrd="0" destOrd="0" presId="urn:microsoft.com/office/officeart/2018/2/layout/IconLabelList"/>
    <dgm:cxn modelId="{7BBC8981-B419-47BF-807A-3FDDEC3FCE26}" srcId="{0C068754-F5DD-46AF-8EE2-DBFFEE1FA38F}" destId="{8EE9FDF2-6791-4904-8FCC-F03E08241A01}" srcOrd="1" destOrd="0" parTransId="{B4020228-18C6-4E94-91D4-A9C9DFD1932C}" sibTransId="{3AFAE6FB-3330-4B7F-AA8C-365209F2BAF1}"/>
    <dgm:cxn modelId="{D1F97A3A-1458-4C5B-ADE1-A20923BB0496}" type="presParOf" srcId="{17F503D5-7B65-4A3D-B85C-766946317E00}" destId="{5E40A988-4B44-4D44-BB9E-EB5C927737F0}" srcOrd="0" destOrd="0" presId="urn:microsoft.com/office/officeart/2018/2/layout/IconLabelList"/>
    <dgm:cxn modelId="{7DADE366-95F6-43E1-89F7-C3FA268A6305}" type="presParOf" srcId="{5E40A988-4B44-4D44-BB9E-EB5C927737F0}" destId="{DD3B31F9-93EE-4A61-B5C0-16B9166BB838}" srcOrd="0" destOrd="0" presId="urn:microsoft.com/office/officeart/2018/2/layout/IconLabelList"/>
    <dgm:cxn modelId="{A6F143F0-9B96-40AC-93A0-D4451546FE27}" type="presParOf" srcId="{5E40A988-4B44-4D44-BB9E-EB5C927737F0}" destId="{04F17622-ED6E-41D8-91D0-C7B2E3C20780}" srcOrd="1" destOrd="0" presId="urn:microsoft.com/office/officeart/2018/2/layout/IconLabelList"/>
    <dgm:cxn modelId="{E2946F76-0571-4724-857F-6F82CBBE9153}" type="presParOf" srcId="{5E40A988-4B44-4D44-BB9E-EB5C927737F0}" destId="{835B914C-C0D5-47B8-9EBB-A18A8D3BC3AE}" srcOrd="2" destOrd="0" presId="urn:microsoft.com/office/officeart/2018/2/layout/IconLabelList"/>
    <dgm:cxn modelId="{AD52CF87-BF4F-4BDA-8B8E-910EEA1B4665}" type="presParOf" srcId="{17F503D5-7B65-4A3D-B85C-766946317E00}" destId="{0E7522B9-E896-4A40-A7D6-DE39072159CC}" srcOrd="1" destOrd="0" presId="urn:microsoft.com/office/officeart/2018/2/layout/IconLabelList"/>
    <dgm:cxn modelId="{221C8129-9900-4F53-83A0-40342C892542}" type="presParOf" srcId="{17F503D5-7B65-4A3D-B85C-766946317E00}" destId="{68C27A85-AABD-459D-9AAB-70578C614B4E}" srcOrd="2" destOrd="0" presId="urn:microsoft.com/office/officeart/2018/2/layout/IconLabelList"/>
    <dgm:cxn modelId="{D5A56C52-BF7A-4DE3-919B-11D88A34EF41}" type="presParOf" srcId="{68C27A85-AABD-459D-9AAB-70578C614B4E}" destId="{DCC5C6E9-6228-48BD-B482-E89918A223C3}" srcOrd="0" destOrd="0" presId="urn:microsoft.com/office/officeart/2018/2/layout/IconLabelList"/>
    <dgm:cxn modelId="{679A20E0-8A85-4B0E-A395-D51660F268D8}" type="presParOf" srcId="{68C27A85-AABD-459D-9AAB-70578C614B4E}" destId="{B7F5B715-186A-4028-9DDF-A4382D93B8BB}" srcOrd="1" destOrd="0" presId="urn:microsoft.com/office/officeart/2018/2/layout/IconLabelList"/>
    <dgm:cxn modelId="{B2406989-1995-4967-8DB5-58EE54F7F443}" type="presParOf" srcId="{68C27A85-AABD-459D-9AAB-70578C614B4E}" destId="{7031B80E-8A2C-4513-B165-AAD7483A54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B31F9-93EE-4A61-B5C0-16B9166BB838}">
      <dsp:nvSpPr>
        <dsp:cNvPr id="0" name=""/>
        <dsp:cNvSpPr/>
      </dsp:nvSpPr>
      <dsp:spPr>
        <a:xfrm>
          <a:off x="1953914" y="39697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B914C-C0D5-47B8-9EBB-A18A8D3BC3AE}">
      <dsp:nvSpPr>
        <dsp:cNvPr id="0" name=""/>
        <dsp:cNvSpPr/>
      </dsp:nvSpPr>
      <dsp:spPr>
        <a:xfrm>
          <a:off x="765914" y="2850829"/>
          <a:ext cx="432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Purpose: To manage student details, attendance, and generate reports.</a:t>
          </a:r>
          <a:endParaRPr lang="en-US" sz="2000" kern="1200" dirty="0"/>
        </a:p>
      </dsp:txBody>
      <dsp:txXfrm>
        <a:off x="765914" y="2850829"/>
        <a:ext cx="4320000" cy="945000"/>
      </dsp:txXfrm>
    </dsp:sp>
    <dsp:sp modelId="{DCC5C6E9-6228-48BD-B482-E89918A223C3}">
      <dsp:nvSpPr>
        <dsp:cNvPr id="0" name=""/>
        <dsp:cNvSpPr/>
      </dsp:nvSpPr>
      <dsp:spPr>
        <a:xfrm>
          <a:off x="7029914" y="396975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1B80E-8A2C-4513-B165-AAD7483A5493}">
      <dsp:nvSpPr>
        <dsp:cNvPr id="0" name=""/>
        <dsp:cNvSpPr/>
      </dsp:nvSpPr>
      <dsp:spPr>
        <a:xfrm>
          <a:off x="5841914" y="2850829"/>
          <a:ext cx="432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Key features: Add, remove, update, search, sort, filter, and generate attendance reports.</a:t>
          </a:r>
          <a:endParaRPr lang="en-US" sz="2000" kern="1200"/>
        </a:p>
      </dsp:txBody>
      <dsp:txXfrm>
        <a:off x="5841914" y="2850829"/>
        <a:ext cx="4320000" cy="9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88F3-836C-DF02-05EC-1DE1898EC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0B81B-B0C7-6CDB-7F47-038C79EE4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4F5D-D84D-7911-E29A-BC67E999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A857-245F-82D2-3C11-C7936B4A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0170-DAD8-DA37-5615-C12B2BE6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6120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F12B-970A-2032-E68E-17CB8BAA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C95D3-6BE4-F7F6-15C1-3DC7F280A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C42A1-433B-C38D-FF01-A3B6EE69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B462C-A4D1-52F4-E9B9-91DAF242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3C41-2088-A9CB-139A-DF8FC84C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087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5D72-71EC-9FCE-6AAB-5DA2DB73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71B51-1388-25A3-5EFC-F4C0C5BC4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264FB-9C1E-C4C8-34DA-A9E71DAE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D1502-10D2-34AA-E4E1-3C081B45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5DF0D-ED81-D3D5-A3D6-38F10F56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542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CFB1-7461-084D-498E-3E605B9C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B080-96B2-8690-7CAB-0A0313714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6E00E-1223-9FDE-D0D6-43BB77C21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C0BBD-4D10-F848-4544-5548857F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0E3F0-C889-191A-6D1F-472D2FC6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95074-8B0B-49C3-5092-ABEA7533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94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9DB2-504C-43E6-AB0E-09368299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A114-A694-8979-0868-ECEE5FB7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412EB-65AA-F554-6D13-B30FFFA77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5ED26-40FA-1198-7398-C0DC54521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8508A-11C5-8C13-26F1-0A098789F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A9969-E688-455E-4A15-9BB3BDEE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62537-F631-DE6F-44F8-B502C566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3D4BA-EE2D-4E36-90E6-728D0463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22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BED5-77CE-5C9D-172D-E436C1ED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C7388-FEB3-9BD0-B752-172FB676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C43F2-4A07-4571-4572-F519DBEC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E6165-AD6E-4553-D2D2-2099F4FC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73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892E8-F6EC-BA80-CE84-E096C1B7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201F7-F817-9AC6-3494-D23523CB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BD6E8-C7DD-DE89-7F36-1C8C98F7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213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A578-99FE-863C-7895-4089E160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D4DFC-9FF8-26AB-99EB-EB611D5A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EA30C-DCCF-1DC6-E2B6-75A95C39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5DB1D-B0DF-2389-DBA1-CC2C56ED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616E0-ECE1-A4D4-FB34-9AD9A83F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A0CBC-8761-E261-5166-1D7C7921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823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2D6A-BD24-5A6C-35B9-E0412B48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E0DCC-8C6D-CE20-BBBD-EA6E49A29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2AE11-0243-FCCD-377E-ABB81EAA9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14B91-E081-C676-6034-B6AB4DC3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98354-1373-D5DF-963B-42E9830A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3A244-9E2E-D1A3-6538-1AF1AA33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59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E577-4E89-68A2-F3E9-F83CF969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327A2-A97F-4639-2FBB-CB3BBB369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E4376-4571-A8F0-E23E-0A7EF01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B06A-7A28-8C04-79C3-4EA6DD02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F059-7204-427E-FD57-9F8583E3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02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8C2C8-DDDF-539D-326D-C4257DD21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A5DC-9BBA-BD9D-F8D8-5949BAED8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A751-31A4-A0A5-330C-75295439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0E32A-7380-0A53-3DBC-8F9EA5C0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D52C5-AB3A-1B0A-49BF-60D8FED0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77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ABEF-DB77-558E-B237-53FC2E8A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B9D35-0194-8A46-E003-0730B5A71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306E-7ED5-4E54-1BDD-842CF4F3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A5D04-4DDD-4EB6-A1DE-1D1624D5E590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9BBC-3C36-4B56-CF5F-A780EDDE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AAA7D-AC20-2603-81FD-B96615DF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47E7-5991-43FA-B31D-B2A1AC4F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36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1FBC8-5008-1913-5985-413BD832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DC04A-C9F0-C73C-CFFC-E43D5020C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142C-6FBB-E88B-2E54-17936AE89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DF0AF-4B5F-4590-B8C6-2EE96ADC4C7B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55C0-2AFA-D48F-6F68-F41730C3D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CE19D-F5D0-C000-407F-D2ECA9745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90E6E-B804-4E05-A7A8-EE56F19AB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3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48F78-3670-A217-EBD9-2251EADA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Student Management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56D68B-CDE0-7888-F73E-1948A98F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23FBA4-EFA8-0E4A-FA0D-3516CCACB5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30118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8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/>
      </p:transition>
    </mc:Choice>
    <mc:Fallback xmlns="">
      <p:transition spd="slow"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B0974-7FC6-9A5D-3C7A-69E434CF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2A83C57-9345-C423-1D11-5B76E6CBB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128446-3FCF-0FF0-6F12-6A74B36F3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79A056-8A46-F7CC-1E48-C9B7F94C2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F23432-7131-2BB4-2658-5915C1054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7E5555-1594-890C-9D6C-FE9538AD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2AE981-8112-2383-8A7E-2EA02E71A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9C71C2-DDC4-3285-6D22-6EA8EC23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66FB5B-6A63-D050-36CF-841380B67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0EBCC3-C80A-F209-8F0A-86F08DE19CDE}"/>
              </a:ext>
            </a:extLst>
          </p:cNvPr>
          <p:cNvSpPr txBox="1"/>
          <p:nvPr/>
        </p:nvSpPr>
        <p:spPr>
          <a:xfrm>
            <a:off x="-55641" y="1453894"/>
            <a:ext cx="38094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solidFill>
                  <a:schemeClr val="bg1"/>
                </a:solidFill>
              </a:rPr>
              <a:t>Prepared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u="sng" dirty="0">
                <a:solidFill>
                  <a:schemeClr val="bg1"/>
                </a:solidFill>
              </a:rPr>
              <a:t>by</a:t>
            </a:r>
            <a:r>
              <a:rPr lang="en-US" sz="3000" dirty="0">
                <a:solidFill>
                  <a:schemeClr val="bg1"/>
                </a:solidFill>
              </a:rPr>
              <a:t> :-</a:t>
            </a:r>
            <a:endParaRPr lang="en-IN" sz="30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195568-AC61-C323-8548-26850424CFEA}"/>
              </a:ext>
            </a:extLst>
          </p:cNvPr>
          <p:cNvSpPr txBox="1"/>
          <p:nvPr/>
        </p:nvSpPr>
        <p:spPr>
          <a:xfrm>
            <a:off x="8992" y="2568452"/>
            <a:ext cx="55300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Name – Rathod Daksh </a:t>
            </a:r>
            <a:r>
              <a:rPr lang="en-US" sz="2200" dirty="0" err="1">
                <a:solidFill>
                  <a:schemeClr val="bg1"/>
                </a:solidFill>
              </a:rPr>
              <a:t>Sunilbhai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Enrollment – 24002171210153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Class – A6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0AF134-71A3-4FE7-BA75-64C3AF4CCC9A}"/>
              </a:ext>
            </a:extLst>
          </p:cNvPr>
          <p:cNvSpPr txBox="1"/>
          <p:nvPr/>
        </p:nvSpPr>
        <p:spPr>
          <a:xfrm>
            <a:off x="-15876" y="3936112"/>
            <a:ext cx="55390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Name – Patel </a:t>
            </a:r>
            <a:r>
              <a:rPr lang="en-US" sz="2200" dirty="0" err="1">
                <a:solidFill>
                  <a:schemeClr val="bg1"/>
                </a:solidFill>
              </a:rPr>
              <a:t>Vrushti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Alpeshbhai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Enrollment – 24002171210130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Class – A6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A89AB-9F59-0027-591B-778E4046F5A7}"/>
              </a:ext>
            </a:extLst>
          </p:cNvPr>
          <p:cNvSpPr txBox="1"/>
          <p:nvPr/>
        </p:nvSpPr>
        <p:spPr>
          <a:xfrm>
            <a:off x="-55641" y="5474521"/>
            <a:ext cx="50606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Name – Chauhan Soniya Dharmendra </a:t>
            </a:r>
          </a:p>
          <a:p>
            <a:r>
              <a:rPr lang="en-US" sz="2200" dirty="0">
                <a:solidFill>
                  <a:schemeClr val="bg1"/>
                </a:solidFill>
              </a:rPr>
              <a:t>Enrollment – 24002171210029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Class – A6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543EB-7512-D228-A34E-7F7F3B49CC47}"/>
              </a:ext>
            </a:extLst>
          </p:cNvPr>
          <p:cNvSpPr txBox="1"/>
          <p:nvPr/>
        </p:nvSpPr>
        <p:spPr>
          <a:xfrm>
            <a:off x="5836439" y="3275127"/>
            <a:ext cx="47784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Name – </a:t>
            </a:r>
            <a:r>
              <a:rPr lang="en-US" sz="2200" dirty="0" err="1">
                <a:solidFill>
                  <a:schemeClr val="bg1"/>
                </a:solidFill>
              </a:rPr>
              <a:t>Ghevariya</a:t>
            </a:r>
            <a:r>
              <a:rPr lang="en-US" sz="2200" dirty="0">
                <a:solidFill>
                  <a:schemeClr val="bg1"/>
                </a:solidFill>
              </a:rPr>
              <a:t> Dhruv </a:t>
            </a:r>
            <a:r>
              <a:rPr lang="en-US" sz="2200" dirty="0" err="1">
                <a:solidFill>
                  <a:schemeClr val="bg1"/>
                </a:solidFill>
              </a:rPr>
              <a:t>Arvindbhai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Enrollment – 24002171510007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Class – A6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77203-933B-FF7D-5B86-6172E3BBAFC8}"/>
              </a:ext>
            </a:extLst>
          </p:cNvPr>
          <p:cNvSpPr txBox="1"/>
          <p:nvPr/>
        </p:nvSpPr>
        <p:spPr>
          <a:xfrm>
            <a:off x="5771468" y="4924853"/>
            <a:ext cx="56540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Name – Panchal Neel </a:t>
            </a:r>
            <a:r>
              <a:rPr lang="en-US" sz="2200" dirty="0" err="1">
                <a:solidFill>
                  <a:schemeClr val="bg1"/>
                </a:solidFill>
              </a:rPr>
              <a:t>Dineshbhai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</a:p>
          <a:p>
            <a:r>
              <a:rPr lang="en-US" sz="2200" dirty="0">
                <a:solidFill>
                  <a:schemeClr val="bg1"/>
                </a:solidFill>
              </a:rPr>
              <a:t>Enrollment –24002171210103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Class – A6</a:t>
            </a:r>
            <a:endParaRPr lang="en-IN" sz="22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82CCBD-42F6-D719-2644-CD6F61EEDA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A82859-FCC7-F26E-BE33-82FEF1187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7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/>
      </p:transition>
    </mc:Choice>
    <mc:Fallback xmlns="">
      <p:transition spd="slow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B758A-BD5F-1ABE-0552-08332054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Index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6DE78F-08FB-35F0-6607-EE74B06B2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315335"/>
              </p:ext>
            </p:extLst>
          </p:nvPr>
        </p:nvGraphicFramePr>
        <p:xfrm>
          <a:off x="3831771" y="1575460"/>
          <a:ext cx="4550229" cy="5273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550229">
                  <a:extLst>
                    <a:ext uri="{9D8B030D-6E8A-4147-A177-3AD203B41FA5}">
                      <a16:colId xmlns:a16="http://schemas.microsoft.com/office/drawing/2014/main" val="661577662"/>
                    </a:ext>
                  </a:extLst>
                </a:gridCol>
              </a:tblGrid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1. </a:t>
                      </a:r>
                      <a:r>
                        <a:rPr lang="en-IN" sz="2000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5851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2. </a:t>
                      </a:r>
                      <a:r>
                        <a:rPr lang="en-IN" sz="2000" dirty="0"/>
                        <a:t>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698147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3.   Functional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350527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4. </a:t>
                      </a:r>
                      <a:r>
                        <a:rPr lang="en-IN" sz="2000" dirty="0"/>
                        <a:t>  Use Case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0056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5.  Class </a:t>
                      </a:r>
                      <a:r>
                        <a:rPr lang="en-US" sz="2000" dirty="0" err="1"/>
                        <a:t>Daigram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359485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6. Sequence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61273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7. Activity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285750"/>
                  </a:ext>
                </a:extLst>
              </a:tr>
              <a:tr h="1226288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8. Data Flow Diagram (DFD)</a:t>
                      </a:r>
                    </a:p>
                    <a:p>
                      <a:pPr algn="l"/>
                      <a:r>
                        <a:rPr lang="en-IN" sz="2000" dirty="0"/>
                        <a:t>   - Level 0 DFD</a:t>
                      </a:r>
                    </a:p>
                    <a:p>
                      <a:pPr algn="l"/>
                      <a:r>
                        <a:rPr lang="en-IN" sz="2000" dirty="0"/>
                        <a:t>   - Level 1 DFD</a:t>
                      </a:r>
                    </a:p>
                    <a:p>
                      <a:pPr algn="l"/>
                      <a:r>
                        <a:rPr lang="en-IN" sz="2000" dirty="0"/>
                        <a:t>   - Level 2 DFD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55669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9.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335200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10. 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92213"/>
                  </a:ext>
                </a:extLst>
              </a:tr>
              <a:tr h="3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5590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8877975-644D-A592-6FA5-FD09F0B993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4F81E5-5DDF-C631-EC1E-1FD09651E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3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C1C58-82DC-D06B-A090-D5EF0DD84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70112B-50EE-04FC-451A-F54490F79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E81D7C-8CE9-E28E-2A55-FA0DEC12B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4059DB-B17E-0167-E7F4-8FF54C9F1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8D8950-AD6B-61FE-2218-F2AA87298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E2B85-15F7-69AB-E6CD-A7319979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E719D17-FA59-6449-B914-3AC2B7866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1128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2BF0B7-4FA5-8BEB-FD22-2F050A7A586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9D4C5-4358-AF84-8C6F-0F8FD9952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771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86A4C-8BFC-1E86-9F12-B0D66A45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8094-9DCF-D6ED-28BC-C09C48C3C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68" y="1659753"/>
            <a:ext cx="10538834" cy="41162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R="0" lvl="0"/>
            <a:r>
              <a:rPr lang="en-US" sz="2000" b="1" i="0" u="none" strike="noStrike" baseline="0" dirty="0"/>
              <a:t>The system is designed for educational institutions to manage student data efficiently.</a:t>
            </a:r>
            <a:endParaRPr lang="en-US" sz="2000" b="1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b="1" i="0" u="none" strike="noStrike" baseline="0" dirty="0"/>
              <a:t>Features include: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Adding and removing students.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Updating student details.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Searching and sorting students.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Filtering students by course.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Marking and viewing attendance.</a:t>
            </a:r>
            <a:endParaRPr lang="en-US" sz="2000" i="0" u="none" strike="noStrike" baseline="0" dirty="0">
              <a:ea typeface="Calibri"/>
              <a:cs typeface="Calibri"/>
            </a:endParaRPr>
          </a:p>
          <a:p>
            <a:pPr marR="0" lvl="0"/>
            <a:r>
              <a:rPr lang="en-US" sz="2000" i="0" u="none" strike="noStrike" baseline="0" dirty="0"/>
              <a:t>Generating attendance reports.</a:t>
            </a:r>
            <a:endParaRPr lang="en-US" sz="2000" i="0" u="none" strike="noStrike" baseline="0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B7AE6-436A-6CF0-2AD7-FB85463EC6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719CB6-DA55-8106-610B-FB3F1C64D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47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68F3C-8B3C-5074-9FD4-11A63F81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Functional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750AA-B575-BDB5-AEDC-B100F539A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" y="1610157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 dirty="0"/>
              <a:t>Input: Student details (name, address, ID, course).</a:t>
            </a:r>
          </a:p>
          <a:p>
            <a:pPr marR="0" lvl="0"/>
            <a:r>
              <a:rPr lang="en-US" sz="2000" b="1" i="0" u="none" strike="noStrike" baseline="0" dirty="0"/>
              <a:t>Process:</a:t>
            </a:r>
          </a:p>
          <a:p>
            <a:pPr marR="0" lvl="0"/>
            <a:r>
              <a:rPr lang="en-US" sz="2000" i="0" u="none" strike="noStrike" baseline="0" dirty="0"/>
              <a:t>Add, remove, update, search, sort, and filter students.</a:t>
            </a:r>
          </a:p>
          <a:p>
            <a:pPr marR="0" lvl="0"/>
            <a:r>
              <a:rPr lang="en-US" sz="2000" i="0" u="none" strike="noStrike" baseline="0" dirty="0"/>
              <a:t>Mark and view attendance.</a:t>
            </a:r>
          </a:p>
          <a:p>
            <a:pPr marR="0" lvl="0"/>
            <a:r>
              <a:rPr lang="en-US" sz="2000" i="0" u="none" strike="noStrike" baseline="0" dirty="0"/>
              <a:t>Generate attendance reports.</a:t>
            </a:r>
          </a:p>
          <a:p>
            <a:pPr marR="0" lvl="0"/>
            <a:r>
              <a:rPr lang="en-US" sz="2000" b="1" i="0" u="none" strike="noStrike" baseline="0" dirty="0"/>
              <a:t>Output:</a:t>
            </a:r>
            <a:r>
              <a:rPr lang="en-US" sz="2000" i="0" u="none" strike="noStrike" baseline="0" dirty="0"/>
              <a:t> Display student details, attendance status, and reports.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9CF37-ECC1-AE68-BA74-C3A6EE9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1CB319-4478-1911-521D-79D80F175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686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20A3E-933C-282D-0B2F-15015F45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2F3DFA-66C4-FC9D-C2A2-3CE43533A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8C199-FB61-14D6-03E7-344508943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8A98E0-BB15-AD5F-807B-B8ED95C7C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0F45F-D4EC-19B1-8C22-3F25B845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72CEC2-5479-CC0C-12F9-5F8A3DE9E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15951-1FA2-A4D0-A942-22642045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Design Diagram </a:t>
            </a:r>
            <a:endParaRPr lang="en-US" sz="4000" b="1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69F53-471D-E13E-83DE-993488AF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" y="1610157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400" b="1" i="0" u="none" strike="noStrike" baseline="0" dirty="0"/>
              <a:t>Flowchart of the System :</a:t>
            </a:r>
            <a:endParaRPr lang="en-US" sz="2000" b="1" i="0" u="none" strike="noStrike" baseline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208F5-0E44-04CA-87E0-AB29810B90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89D0A-A29E-44A6-E6B0-D5C06BF21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1028" name="Picture 4" descr="PlantUML Diagram">
            <a:extLst>
              <a:ext uri="{FF2B5EF4-FFF2-40B4-BE49-F238E27FC236}">
                <a16:creationId xmlns:a16="http://schemas.microsoft.com/office/drawing/2014/main" id="{60C1566D-CD73-48D9-2ED6-758246A0A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898"/>
            <a:ext cx="12192000" cy="361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474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C9039-7818-BBB4-1BC7-B5744939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BC380E-BFC3-CBB4-5C60-0C3512E89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59" y="1583900"/>
            <a:ext cx="4328919" cy="529438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EC532-C57B-67F8-35F3-9CC06DA66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590741"/>
            <a:ext cx="8264324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400" b="1" i="0" u="none" strike="noStrike" baseline="0" dirty="0"/>
              <a:t>Actors: Admin.</a:t>
            </a:r>
          </a:p>
          <a:p>
            <a:pPr marR="0" lvl="0"/>
            <a:r>
              <a:rPr lang="en-US" sz="2400" b="1" i="0" u="none" strike="noStrike" baseline="0" dirty="0"/>
              <a:t>Use Cases: </a:t>
            </a:r>
            <a:r>
              <a:rPr lang="en-US" sz="2400" i="0" u="none" strike="noStrike" baseline="0" dirty="0"/>
              <a:t>Add Student, Remove Student, Update Student, Search Student, Mark Attendance, Generate Reports.</a:t>
            </a:r>
          </a:p>
          <a:p>
            <a:pPr marR="0" lvl="0"/>
            <a:r>
              <a:rPr lang="en-US" sz="2400" b="1" i="0" u="none" strike="noStrike" baseline="0" dirty="0"/>
              <a:t>Diagram Example:</a:t>
            </a:r>
          </a:p>
          <a:p>
            <a:pPr marR="0" lvl="0"/>
            <a:r>
              <a:rPr lang="en-US" sz="2400" b="1" i="0" u="none" strike="noStrike" baseline="0" dirty="0"/>
              <a:t>Admin interacts with all use cases.</a:t>
            </a:r>
          </a:p>
          <a:p>
            <a:pPr marR="0" lvl="0"/>
            <a:r>
              <a:rPr lang="en-US" sz="2400" b="1" i="0" u="none" strike="noStrike" baseline="0" dirty="0"/>
              <a:t>Example: </a:t>
            </a:r>
          </a:p>
          <a:p>
            <a:pPr marR="0" lvl="0"/>
            <a:r>
              <a:rPr lang="en-US" sz="2400" i="0" u="none" strike="noStrike" baseline="0" dirty="0"/>
              <a:t>Admin → Add Student → Confirmation.</a:t>
            </a:r>
          </a:p>
          <a:p>
            <a:pPr marR="0" lvl="0"/>
            <a:r>
              <a:rPr lang="en-US" sz="2400" dirty="0"/>
              <a:t>Faculty </a:t>
            </a:r>
            <a:r>
              <a:rPr lang="en-US" sz="2400" i="0" u="none" strike="noStrike" baseline="0" dirty="0"/>
              <a:t>→</a:t>
            </a:r>
            <a:r>
              <a:rPr lang="en-US" sz="2400" i="0" u="none" strike="noStrike" baseline="0" dirty="0" err="1"/>
              <a:t>Genrate</a:t>
            </a:r>
            <a:r>
              <a:rPr lang="en-US" sz="2400" i="0" u="none" strike="noStrike" baseline="0" dirty="0"/>
              <a:t> attendance report →Display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9C5ECE-D9E1-11BA-1453-5A402F9BE3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4FC2E9-5E10-7009-99DE-24BB40795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24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ACA3D-8C2D-C12B-D5F4-BFB29146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281B-CB51-E7A4-45AA-956B86835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" y="1622745"/>
            <a:ext cx="7393861" cy="53778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R="0" lvl="0"/>
            <a:r>
              <a:rPr lang="en-US" sz="2000" b="1" i="0" u="none" strike="noStrike" baseline="0" dirty="0"/>
              <a:t>Classes:</a:t>
            </a:r>
          </a:p>
          <a:p>
            <a:pPr marR="0" lvl="0"/>
            <a:r>
              <a:rPr lang="en-US" sz="2000" b="1" i="0" u="none" strike="noStrike" baseline="0" dirty="0"/>
              <a:t>Main: </a:t>
            </a:r>
            <a:r>
              <a:rPr lang="en-US" sz="2000" i="0" u="none" strike="noStrike" baseline="0" dirty="0"/>
              <a:t>Contains the main method and menu logic.</a:t>
            </a:r>
          </a:p>
          <a:p>
            <a:pPr marR="0" lvl="0"/>
            <a:r>
              <a:rPr lang="en-US" sz="2000" b="1" i="0" u="none" strike="noStrike" baseline="0" dirty="0"/>
              <a:t>Student: </a:t>
            </a:r>
            <a:r>
              <a:rPr lang="en-US" sz="2000" i="0" u="none" strike="noStrike" baseline="0" dirty="0"/>
              <a:t>Contains student details and methods for attendance and reporting.</a:t>
            </a:r>
          </a:p>
          <a:p>
            <a:pPr marR="0" lvl="0"/>
            <a:r>
              <a:rPr lang="en-US" sz="2000" b="1" i="0" u="none" strike="noStrike" baseline="0" dirty="0"/>
              <a:t>Attributes and Methods:</a:t>
            </a:r>
          </a:p>
          <a:p>
            <a:pPr marR="0" lvl="0"/>
            <a:r>
              <a:rPr lang="en-US" sz="2000" b="1" i="0" u="none" strike="noStrike" baseline="0" dirty="0"/>
              <a:t>Main:</a:t>
            </a:r>
            <a:r>
              <a:rPr lang="en-US" sz="2000" i="0" u="none" strike="noStrike" baseline="0" dirty="0"/>
              <a:t> main(String[]</a:t>
            </a:r>
            <a:r>
              <a:rPr lang="en-US" sz="2000" i="0" u="none" strike="noStrike" baseline="0" dirty="0" err="1"/>
              <a:t>args</a:t>
            </a:r>
            <a:r>
              <a:rPr lang="en-US" sz="2000" i="0" u="none" strike="noStrike" baseline="0" dirty="0"/>
              <a:t>), </a:t>
            </a:r>
            <a:r>
              <a:rPr lang="en-US" sz="2000" i="0" u="none" strike="noStrike" baseline="0" dirty="0" err="1"/>
              <a:t>addStudent</a:t>
            </a:r>
            <a:r>
              <a:rPr lang="en-US" sz="2000" i="0" u="none" strike="noStrike" baseline="0" dirty="0"/>
              <a:t>(), </a:t>
            </a:r>
            <a:r>
              <a:rPr lang="en-US" sz="2000" i="0" u="none" strike="noStrike" baseline="0" dirty="0" err="1"/>
              <a:t>removeStudent</a:t>
            </a:r>
            <a:r>
              <a:rPr lang="en-US" sz="2000" i="0" u="none" strike="noStrike" baseline="0" dirty="0"/>
              <a:t>()</a:t>
            </a:r>
            <a:r>
              <a:rPr lang="en-US" sz="2000" dirty="0"/>
              <a:t> </a:t>
            </a:r>
            <a:r>
              <a:rPr lang="en-US" sz="2000" i="0" u="none" strike="noStrike" baseline="0" dirty="0"/>
              <a:t>                  ,</a:t>
            </a:r>
            <a:r>
              <a:rPr lang="en-US" sz="2000" i="0" u="none" strike="noStrike" baseline="0" dirty="0" err="1"/>
              <a:t>updateStudent</a:t>
            </a:r>
            <a:r>
              <a:rPr lang="en-US" sz="2000" i="0" u="none" strike="noStrike" baseline="0" dirty="0"/>
              <a:t>(), </a:t>
            </a:r>
            <a:r>
              <a:rPr lang="en-US" sz="2000" i="0" u="none" strike="noStrike" baseline="0" dirty="0" err="1"/>
              <a:t>searchStudent</a:t>
            </a:r>
            <a:r>
              <a:rPr lang="en-US" sz="2000" i="0" u="none" strike="noStrike" baseline="0" dirty="0"/>
              <a:t>(), </a:t>
            </a:r>
            <a:r>
              <a:rPr lang="en-US" sz="2000" i="0" u="none" strike="noStrike" baseline="0" dirty="0" err="1"/>
              <a:t>markAttendance</a:t>
            </a:r>
            <a:r>
              <a:rPr lang="en-US" sz="2000" i="0" u="none" strike="noStrike" baseline="0"/>
              <a:t>()  </a:t>
            </a:r>
            <a:r>
              <a:rPr lang="en-US" sz="2000"/>
              <a:t>                       ,</a:t>
            </a:r>
            <a:r>
              <a:rPr lang="en-US" sz="2000" i="0" u="none" strike="noStrike" baseline="0" dirty="0" err="1"/>
              <a:t>generateReport</a:t>
            </a:r>
            <a:r>
              <a:rPr lang="en-US" sz="2000" i="0" u="none" strike="noStrike" baseline="0" dirty="0"/>
              <a:t>().</a:t>
            </a:r>
          </a:p>
          <a:p>
            <a:pPr marR="0" lvl="0"/>
            <a:r>
              <a:rPr lang="en-US" sz="2000" b="1" i="0" u="none" strike="noStrike" baseline="0" dirty="0"/>
              <a:t>Student: </a:t>
            </a:r>
            <a:r>
              <a:rPr lang="en-US" sz="2000" i="0" u="none" strike="noStrike" baseline="0" dirty="0"/>
              <a:t>String name, String id, String address, String course, </a:t>
            </a:r>
            <a:r>
              <a:rPr lang="en-US" sz="2000" i="0" u="none" strike="noStrike" baseline="0" dirty="0" err="1"/>
              <a:t>boolean</a:t>
            </a:r>
            <a:r>
              <a:rPr lang="en-US" sz="2000" i="0" u="none" strike="noStrike" baseline="0" dirty="0"/>
              <a:t>[] attendance, </a:t>
            </a:r>
            <a:r>
              <a:rPr lang="en-US" sz="2000" i="0" u="none" strike="noStrike" baseline="0" dirty="0" err="1"/>
              <a:t>markAttendance</a:t>
            </a:r>
            <a:r>
              <a:rPr lang="en-US" sz="2000" i="0" u="none" strike="noStrike" baseline="0" dirty="0"/>
              <a:t>(int day), </a:t>
            </a:r>
            <a:r>
              <a:rPr lang="en-US" sz="2000" i="0" u="none" strike="noStrike" baseline="0" dirty="0" err="1"/>
              <a:t>getAttendance</a:t>
            </a:r>
            <a:r>
              <a:rPr lang="en-US" sz="2000" i="0" u="none" strike="noStrike" baseline="0" dirty="0"/>
              <a:t>(): </a:t>
            </a:r>
            <a:r>
              <a:rPr lang="en-US" sz="2000" i="0" u="none" strike="noStrike" baseline="0" dirty="0" err="1"/>
              <a:t>boolean</a:t>
            </a:r>
            <a:r>
              <a:rPr lang="en-US" sz="2000" i="0" u="none" strike="noStrike" baseline="0" dirty="0"/>
              <a:t>[].</a:t>
            </a:r>
          </a:p>
          <a:p>
            <a:pPr marR="0" lvl="0"/>
            <a:r>
              <a:rPr lang="en-US" sz="2000" b="1" i="0" u="none" strike="noStrike" baseline="0" dirty="0"/>
              <a:t>Relationships: </a:t>
            </a:r>
            <a:r>
              <a:rPr lang="en-US" sz="2000" i="0" u="none" strike="noStrike" baseline="0" dirty="0"/>
              <a:t>Main uses Student.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B294C-81F0-8086-FEF7-6840511E04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A9EB7-4B01-8033-5920-99CBC344F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CD0E2931-E6F1-599B-1B55-16EDBDE25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050" y="1597432"/>
            <a:ext cx="4313313" cy="524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979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C723B-1FB5-1337-381D-4703C7E4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Sequence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94206-FDF9-210D-4826-2C8B8F2D4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23E7C-F5A9-8D4A-3125-A3C5CD3B4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FB0857-C91E-8536-69ED-6B0898B13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381" y="1716649"/>
            <a:ext cx="4897255" cy="42711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C54E836-4946-ACEB-A73F-B0E54B88AD9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7" y="2061356"/>
            <a:ext cx="750039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User Initiation:</a:t>
            </a: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The user selects the option to search for a student.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The system (Main class) prompts the user for search criteria.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Processing in the Main Class:</a:t>
            </a: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The Main class calls the </a:t>
            </a:r>
            <a:r>
              <a:rPr kumimoji="0" lang="en-US" altLang="en-US" sz="20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searchStudent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(criteria) function in the Student class.</a:t>
            </a: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The Student class checks if any student matches the given criteria.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Student Class Processing:</a:t>
            </a: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If a match is found, student details are returned.</a:t>
            </a:r>
            <a:endParaRPr kumimoji="0" lang="en-US" altLang="en-US" b="0" i="0" strike="noStrike" cap="none" normalizeH="0" baseline="0" dirty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If no match is found, a "Not Found" response is returned.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Displaying the Result:</a:t>
            </a: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The Main class receives the result and displays it to the user.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8A817-2108-C293-53C5-835ED0B1BAFF}"/>
              </a:ext>
            </a:extLst>
          </p:cNvPr>
          <p:cNvSpPr txBox="1"/>
          <p:nvPr/>
        </p:nvSpPr>
        <p:spPr>
          <a:xfrm>
            <a:off x="217714" y="1666443"/>
            <a:ext cx="5464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strike="noStrike" baseline="0" dirty="0"/>
              <a:t>Flow</a:t>
            </a:r>
            <a:r>
              <a:rPr lang="en-US" sz="1800" b="1" i="0" strike="noStrike" baseline="0" dirty="0"/>
              <a:t> </a:t>
            </a:r>
            <a:r>
              <a:rPr lang="en-US" sz="2400" b="1" i="0" strike="noStrike" baseline="0" dirty="0"/>
              <a:t>of Operations</a:t>
            </a:r>
            <a:r>
              <a:rPr lang="en-US" sz="1800" b="1" i="0" strike="noStrike" baseline="0" dirty="0"/>
              <a:t>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7481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56FD0-5CAF-343F-E648-18087EC4D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916" y="1607886"/>
            <a:ext cx="5021826" cy="502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C21CF-4AEA-FAB6-F6C4-D58B5F5F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Activity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7C5DA-51CE-AFF0-6530-64647A202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42" y="1622744"/>
            <a:ext cx="8115306" cy="5235256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This Activity </a:t>
            </a:r>
            <a:r>
              <a:rPr lang="en-IN" sz="2000" b="1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daigram</a:t>
            </a: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illustrates the Search Student Process based on input criteria: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Input Search Criteria:</a:t>
            </a: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The user enters search criteria (name or ID).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Search by Name: </a:t>
            </a: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searching by name: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the student is found, their details are displayed.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not found, a "No student found" message is shown.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Search by ID: If searching by ID: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the student is found, their details are displayed.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not found, a "No student found" message is shown.</a:t>
            </a:r>
          </a:p>
          <a:p>
            <a:pPr marR="0" lvl="0">
              <a:lnSpc>
                <a:spcPct val="120000"/>
              </a:lnSpc>
            </a:pPr>
            <a:endParaRPr lang="en-US" sz="600" i="0" u="none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D8B32-8B91-8504-F016-3B398ADD94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10454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C7A37-A4E2-2ED6-F16C-333CA893A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16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4CADC-AAAD-68DC-14B7-7451438E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87C2-4AFA-0AEA-95C0-80594DFC1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722" y="1885279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 dirty="0"/>
              <a:t>Level 0 DFD: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This diagram represents a Context-Level Data Flow Diagram (DFD) for a Student Management System (SMS). It illustrates the external entities interacting with the system: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Admin: </a:t>
            </a: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Provides input and manages student data and system operations.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Faculty: </a:t>
            </a:r>
            <a:r>
              <a:rPr lang="en-IN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Interacts with the system to update student attendance or retrieve data</a:t>
            </a:r>
            <a:r>
              <a:rPr lang="en-IN" sz="20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C5573-DA7D-4817-25E8-968912B123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10454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552328-D423-3EA9-CD20-E1F35925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BCEE96-CD90-1D33-DBDE-DA6477D9F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4" y="4721303"/>
            <a:ext cx="9997719" cy="1492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3986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3344A-F464-5C72-0D88-6C90B2A3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2BDA16-FAEC-EC4F-CFD4-EA83B8E6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928452-EA1D-2980-E20E-21B22288C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16960-C6CC-FDF9-CCAC-25BC18BE4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295F5-F279-C026-34E9-49C7AA497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28E554-406E-E1AA-3325-5CAE7BF42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1A492-9843-131C-B2A0-407222EA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EA505-96AC-4CE1-862A-83514E563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" y="1590740"/>
            <a:ext cx="5742037" cy="52672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R="0" lvl="0">
              <a:lnSpc>
                <a:spcPct val="100000"/>
              </a:lnSpc>
            </a:pPr>
            <a:r>
              <a:rPr lang="en-US" sz="1600" b="1" i="0" u="none" strike="noStrike" baseline="0" dirty="0">
                <a:cs typeface="Arial" panose="020B0604020202020204" pitchFamily="34" charset="0"/>
              </a:rPr>
              <a:t>Level 1 DFD: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This (DFD) for a Student Management System shows the flow of data between the system, actors, and processes: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Add Student: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Admin adds student details, which are stored in the student database.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Search Student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: Admin requests student information, and the database returns the data.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Mark Attendance: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Faculty updates student attendance in the database.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Generate Report: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Admin requests a report, which is generated using student data.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View Attendance: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Students can retrieve their attendance records from the database.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student database acts as the central data store, connecting all processes and external entity.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DA4F3-05BB-B649-D306-863C688D54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D1B70-D75F-213F-50C9-774C27E57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F02F3C-4EFC-8B39-01BA-886986B25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039" y="1864993"/>
            <a:ext cx="6302643" cy="46899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324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1A47B-4876-DA24-2901-E9EA67BD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E9254C-1D1A-5C22-7D87-95186117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A4141C-1598-105D-1F8B-491091EE6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B5FC1-46CA-3464-4023-ECD069AB3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7E56FF-3D77-2530-0CF4-D1204705D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DB9687-951E-548E-2FF8-4BC62C62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F7D1A-7C61-CCAD-6BE7-F338E5F5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F2EBB-FC80-4268-3F53-03D201A965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0CF582-447C-BEAC-BA5B-64795076C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206" y="2192594"/>
            <a:ext cx="4918772" cy="419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D0D8EF-63DB-9198-2640-9213F7C5D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7C2F1-AFAE-A9E9-4F31-DAD319390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722" y="1885278"/>
            <a:ext cx="7005484" cy="49037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R="0" lvl="0"/>
            <a:r>
              <a:rPr lang="en-US" sz="2400" b="1" i="0" u="none" strike="noStrike" baseline="0" dirty="0"/>
              <a:t>Level 2 DFD: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This expanded Level 2 Data Flow Diagram (DFD) focuses on the "Search Student" process: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2.1 Input Search Criteria: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Admin provides search criteria (e.g., student name or ID).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2.2 Search in Student Base: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system searches the student database using the provided criteria.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Student Database: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database returns matching student information.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2.4 Display Student Info: 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system displays the search results to the admin.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IN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This detailed process shows the flow of data from input to the display of search results, with the student database as the central data source.</a:t>
            </a:r>
          </a:p>
        </p:txBody>
      </p:sp>
    </p:spTree>
    <p:extLst>
      <p:ext uri="{BB962C8B-B14F-4D97-AF65-F5344CB8AC3E}">
        <p14:creationId xmlns:p14="http://schemas.microsoft.com/office/powerpoint/2010/main" val="2708138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8BDF8-4C15-CFE9-A9FB-0942DEE6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5B826-B2F7-3A44-C5F0-3D3679973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8" y="1659753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 dirty="0"/>
              <a:t>Fixed-size arrays for attendance (max 30 records).</a:t>
            </a:r>
          </a:p>
          <a:p>
            <a:pPr marR="0" lvl="0"/>
            <a:r>
              <a:rPr lang="en-US" sz="2000" b="1" i="0" u="none" strike="noStrike" baseline="0" dirty="0"/>
              <a:t>No persistent storage (data is lost after program termination).</a:t>
            </a:r>
          </a:p>
          <a:p>
            <a:pPr marR="0" lvl="0"/>
            <a:r>
              <a:rPr lang="en-US" sz="2000" b="1" i="0" u="none" strike="noStrike" baseline="0" dirty="0"/>
              <a:t>Limited error handling for invalid inputs.</a:t>
            </a:r>
          </a:p>
          <a:p>
            <a:pPr marR="0" lvl="0"/>
            <a:r>
              <a:rPr lang="en-US" sz="2000" b="1" i="0" u="none" strike="noStrike" baseline="0" dirty="0"/>
              <a:t>Basic UI (command-line interface).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7C323-D1A5-F764-3952-0B91AA8729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28E4B9-3D9F-AB2E-774F-8E92702E4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73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843D0-E2E4-7440-0758-D0CC680D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A640-1828-AC5F-F32F-322C2D18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97432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 dirty="0"/>
              <a:t>Implement a database for persistent storage.</a:t>
            </a:r>
          </a:p>
          <a:p>
            <a:pPr marR="0" lvl="0"/>
            <a:r>
              <a:rPr lang="en-US" sz="2000" b="1" i="0" u="none" strike="noStrike" baseline="0" dirty="0"/>
              <a:t>Add a graphical user interface (GUI).</a:t>
            </a:r>
          </a:p>
          <a:p>
            <a:pPr marR="0" lvl="0"/>
            <a:r>
              <a:rPr lang="en-US" sz="2000" b="1" i="0" u="none" strike="noStrike" baseline="0" dirty="0"/>
              <a:t>Enhance error handling and input validation.</a:t>
            </a:r>
          </a:p>
          <a:p>
            <a:pPr marR="0" lvl="0"/>
            <a:r>
              <a:rPr lang="en-US" sz="2000" b="1" i="0" u="none" strike="noStrike" baseline="0" dirty="0"/>
              <a:t>Extend features (e.g., grading system, fee management).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50054-4215-E1FD-0067-86C6A6530D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59017D-94DD-ABEA-AB3C-18D6D8954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65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307C7-460F-1030-6D5E-46C2500F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88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A881D-EC77-8F96-B580-FC3420ADDF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22460" y="20286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949D1D-E60F-66C2-837B-B970EEEA0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923900" cy="9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00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976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Symbol</vt:lpstr>
      <vt:lpstr>Office Theme</vt:lpstr>
      <vt:lpstr> Student Management System</vt:lpstr>
      <vt:lpstr>PowerPoint Presentation</vt:lpstr>
      <vt:lpstr>Index</vt:lpstr>
      <vt:lpstr>Introduction</vt:lpstr>
      <vt:lpstr>Scope</vt:lpstr>
      <vt:lpstr>Functional Requirements</vt:lpstr>
      <vt:lpstr>System Design Diagram </vt:lpstr>
      <vt:lpstr>Use Case Diagram</vt:lpstr>
      <vt:lpstr>Class Diagram</vt:lpstr>
      <vt:lpstr>Sequence Diagram</vt:lpstr>
      <vt:lpstr>Activity Diagram</vt:lpstr>
      <vt:lpstr>Data Flow Diagram</vt:lpstr>
      <vt:lpstr>Data Flow Diagram</vt:lpstr>
      <vt:lpstr>Data Flow Diagram</vt:lpstr>
      <vt:lpstr>Limitations</vt:lpstr>
      <vt:lpstr>Future Work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Rathod</dc:creator>
  <cp:lastModifiedBy>Daksh Rathod</cp:lastModifiedBy>
  <cp:revision>30</cp:revision>
  <dcterms:created xsi:type="dcterms:W3CDTF">2025-02-18T20:06:13Z</dcterms:created>
  <dcterms:modified xsi:type="dcterms:W3CDTF">2025-02-22T11:57:19Z</dcterms:modified>
</cp:coreProperties>
</file>